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65" r:id="rId2"/>
    <p:sldId id="256" r:id="rId3"/>
    <p:sldId id="266" r:id="rId17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66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4095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5298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2231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4476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7999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8593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2273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849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6277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7331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668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271388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779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4039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0157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26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62547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52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808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-6669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Facturación Julio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70360" y="599474"/>
            <a:ext cx="45857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Jul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59895" y="1577882"/>
            <a:ext cx="46876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envío: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de julio 100% enviadas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0360" y="2336834"/>
            <a:ext cx="4585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B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facturas de arriendo y de servicios de administración del Centro Empresas El Cortijo.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63178" y="629329"/>
            <a:ext cx="3127248" cy="1600200"/>
          </a:xfrm>
          <a:prstGeom prst="roundRect">
            <a:avLst>
              <a:gd name="adj" fmla="val 3429"/>
            </a:avLst>
          </a:prstGeom>
          <a:solidFill>
            <a:srgbClr val="16303D"/>
          </a:solidFill>
          <a:ln w="9525">
            <a:solidFill>
              <a:srgbClr val="1F5B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91778" y="793921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ARRIENDO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91778" y="1104817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viernes</a:t>
            </a:r>
            <a:endParaRPr lang="en-US" sz="26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Jul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91778" y="1653457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92332" y="1013377"/>
            <a:ext cx="0" cy="1069848"/>
          </a:xfrm>
          <a:prstGeom prst="line">
            <a:avLst/>
          </a:prstGeom>
          <a:noFill/>
          <a:ln w="12700">
            <a:solidFill>
              <a:srgbClr val="1F5B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6802" y="1104817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martes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Jul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26802" y="1653457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 a clientes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27586" y="629329"/>
            <a:ext cx="3127248" cy="1600200"/>
          </a:xfrm>
          <a:prstGeom prst="roundRect">
            <a:avLst>
              <a:gd name="adj" fmla="val 3429"/>
            </a:avLst>
          </a:prstGeom>
          <a:solidFill>
            <a:srgbClr val="16303D"/>
          </a:solidFill>
          <a:ln w="9525">
            <a:solidFill>
              <a:srgbClr val="1F5B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6186" y="793921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FACT. SERV. ADMINISTRACIÓN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56186" y="1104817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Martes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Jul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56186" y="1653457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56740" y="1013377"/>
            <a:ext cx="0" cy="1069848"/>
          </a:xfrm>
          <a:prstGeom prst="line">
            <a:avLst/>
          </a:prstGeom>
          <a:noFill/>
          <a:ln w="12700">
            <a:solidFill>
              <a:srgbClr val="1F5B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91210" y="1104817"/>
            <a:ext cx="119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Jul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091210" y="1653457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 a clientes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94598" y="2394121"/>
            <a:ext cx="6391656" cy="960120"/>
          </a:xfrm>
          <a:prstGeom prst="roundRect">
            <a:avLst>
              <a:gd name="adj" fmla="val 4762"/>
            </a:avLst>
          </a:prstGeom>
          <a:solidFill>
            <a:srgbClr val="D98E04"/>
          </a:solidFill>
          <a:ln/>
        </p:spPr>
      </p:sp>
      <p:sp>
        <p:nvSpPr>
          <p:cNvPr id="23" name="Text 21"/>
          <p:cNvSpPr/>
          <p:nvPr/>
        </p:nvSpPr>
        <p:spPr>
          <a:xfrm>
            <a:off x="5491778" y="2503849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HITO · PLANILLA AGOSTO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63762" y="277244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Viernes 24 de Agosto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002060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</a:rPr>
              <a:t>(</a:t>
            </a:r>
            <a:r>
              <a:rPr lang="en-US" sz="2000" b="1" dirty="0" err="1">
                <a:solidFill>
                  <a:srgbClr val="002060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</a:rPr>
              <a:t>Envío</a:t>
            </a:r>
            <a:r>
              <a:rPr lang="en-US" sz="2000" b="1" dirty="0">
                <a:solidFill>
                  <a:srgbClr val="002060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</a:rPr>
              <a:t>automático</a:t>
            </a:r>
            <a:r>
              <a:rPr lang="en-US" sz="2000" b="1" dirty="0">
                <a:solidFill>
                  <a:srgbClr val="002060"/>
                </a:solidFill>
                <a:highlight>
                  <a:srgbClr val="FFFF00"/>
                </a:highlight>
                <a:latin typeface="Cambria" pitchFamily="34" charset="0"/>
                <a:ea typeface="Cambria" pitchFamily="34" charset="-122"/>
              </a:rPr>
              <a:t> 2 pm)</a:t>
            </a:r>
            <a:endParaRPr lang="en-US" sz="2000" dirty="0">
              <a:solidFill>
                <a:srgbClr val="002060"/>
              </a:solidFill>
              <a:highlight>
                <a:srgbClr val="FFFF00"/>
              </a:highlight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7858" y="2540425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</a:t>
            </a:r>
            <a:r>
              <a:rPr lang="en-US" sz="200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Ago-26 pre-cargada,</a:t>
            </a:r>
            <a:endParaRPr lang="en-US" sz="20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200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ajuste final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0" y="3412871"/>
            <a:ext cx="12191695" cy="0"/>
          </a:xfrm>
          <a:prstGeom prst="line">
            <a:avLst/>
          </a:prstGeom>
          <a:noFill/>
          <a:ln w="9525">
            <a:solidFill>
              <a:srgbClr val="1F5B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361773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Jun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3595753"/>
            <a:ext cx="170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enviada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92680" y="3361773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Jul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392680" y="3595753"/>
            <a:ext cx="170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Fact. arriendo disponibles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36720" y="3361773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Jul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236720" y="3595753"/>
            <a:ext cx="170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Enviadas a clientes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361773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Jul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080760" y="3595753"/>
            <a:ext cx="170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Fact. Serv. Admin. + cierre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24800" y="3361773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Ago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924800" y="3595753"/>
            <a:ext cx="170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</a:t>
            </a:r>
            <a:r>
              <a:rPr lang="en-US" sz="1000" dirty="0" err="1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</a:t>
            </a: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Ago-26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68840" y="3361773"/>
            <a:ext cx="170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768840" y="3595753"/>
            <a:ext cx="170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Reajustes Serv. Admin. pendientes</a:t>
            </a:r>
            <a:endParaRPr lang="en-US" sz="10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FADB5742-938C-4127-B22D-86A857FB7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" y="4684612"/>
            <a:ext cx="12030635" cy="2138074"/>
          </a:xfrm>
          <a:prstGeom prst="rect">
            <a:avLst/>
          </a:prstGeom>
        </p:spPr>
      </p:pic>
      <p:sp>
        <p:nvSpPr>
          <p:cNvPr id="40" name="Text 1">
            <a:extLst>
              <a:ext uri="{FF2B5EF4-FFF2-40B4-BE49-F238E27FC236}">
                <a16:creationId xmlns:a16="http://schemas.microsoft.com/office/drawing/2014/main" id="{44D2200D-131A-41F7-B064-B75D9B5413CD}"/>
              </a:ext>
            </a:extLst>
          </p:cNvPr>
          <p:cNvSpPr/>
          <p:nvPr/>
        </p:nvSpPr>
        <p:spPr>
          <a:xfrm>
            <a:off x="94129" y="4090252"/>
            <a:ext cx="120306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dirty="0"/>
              <a:t>Para la planilla Ago-26 se incluyen 5 reajustes </a:t>
            </a:r>
            <a:r>
              <a:rPr lang="es-CL" dirty="0" err="1"/>
              <a:t>Serv</a:t>
            </a:r>
            <a:r>
              <a:rPr lang="es-CL" dirty="0"/>
              <a:t>. Admin. por contrato, pendientes por aplicar.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724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· AGUAS ANDINAS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 Cuentas y Boletas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Empresas El Cortijo — Informe de resultados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revisadas 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verificadas boleta por boleta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Verificadas por número de ID, titular, dirección y monto de deuda contra la Planilla de Facturación oficial.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214884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072433"/>
          </a:solidFill>
          <a:ln w="12700">
            <a:solidFill>
              <a:srgbClr val="135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295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CLIENTE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560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760720" y="313639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ID confirmado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560320"/>
            <a:ext cx="0" cy="1097280"/>
          </a:xfrm>
          <a:prstGeom prst="line">
            <a:avLst/>
          </a:prstGeom>
          <a:noFill/>
          <a:ln w="12700">
            <a:solidFill>
              <a:srgbClr val="1F5B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2560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543800" y="31363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 / pendiente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81160" y="214884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072433"/>
          </a:solidFill>
          <a:ln w="12700">
            <a:solidFill>
              <a:srgbClr val="135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295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REVISIÓN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0" y="2560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509760" y="313639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observaciones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155680" y="2560320"/>
            <a:ext cx="0" cy="1097280"/>
          </a:xfrm>
          <a:prstGeom prst="line">
            <a:avLst/>
          </a:prstGeom>
          <a:noFill/>
          <a:ln w="12700">
            <a:solidFill>
              <a:srgbClr val="1F5B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92840" y="2560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</a:rPr>
              <a:t>63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1292840" y="31363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hallazgos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4114800"/>
            <a:ext cx="7452360" cy="1005840"/>
          </a:xfrm>
          <a:prstGeom prst="roundRect">
            <a:avLst>
              <a:gd name="adj" fmla="val 7273"/>
            </a:avLst>
          </a:prstGeom>
          <a:solidFill>
            <a:srgbClr val="D98E04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FINANCIERA DETECTADA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$1.532.984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646920" y="43159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deuda acumulada sobre 13 cuentas con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boletas mal asignadas o locales vacantes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nombre de otro ente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8412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48412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críticas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2816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32816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Boletas Patagónica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7220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nombre de Sr. Residente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1624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01624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Vacantes (con y sin boleta)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86028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86028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boleta emitida ni ID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· PRIORIDAD ALTA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Inconsistencias críticas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donde la dirección, el titular o el estado del inmueble no coinciden con lo registrado en Aguas Andinas.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109728"/>
          </a:xfrm>
          <a:prstGeom prst="rect">
            <a:avLst/>
          </a:prstGeom>
          <a:solidFill>
            <a:srgbClr val="B23A2F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965960"/>
            <a:ext cx="5349240" cy="109728"/>
          </a:xfrm>
          <a:prstGeom prst="rect">
            <a:avLst/>
          </a:prstGeom>
          <a:solidFill>
            <a:srgbClr val="B23A2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58775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Patagónica Inmobiliaria S.A.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2232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posee boletas asociadas y la dirección NO existe en la Planilla de Facturación oficial del Centro Empresas El Cortijo.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539496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8E6E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EN PLANILLA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58775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Casino Imperio Limitada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3017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real: Avda. Américo Vespucio 2708  (boleta 1127136)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47472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 estado facturando adicionalmente a Avda. Américo Vespucio 2692 — local que en realidad se encuentra VACANTE, con cuenta propia 1127134.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539496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F8E6E4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5394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CRUZADA CON LOCAL VACANTE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Aguas Andinas  |  Centro Empresas El Cortijo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· TITULARIDAD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Boletas emitidas a nombre de otro 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RUT y razón social de la boleta no corresponden al cliente real que ocupa el inmueble.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905256"/>
          </a:xfrm>
          <a:prstGeom prst="roundRect">
            <a:avLst>
              <a:gd name="adj" fmla="val 6061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93976"/>
            <a:ext cx="457200" cy="457200"/>
          </a:xfrm>
          <a:prstGeom prst="ellipse">
            <a:avLst/>
          </a:prstGeom>
          <a:solidFill>
            <a:srgbClr val="F8E6E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Neva SpA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2768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Eduardo Frei Montalva 6001-74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49240" y="19659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 a nombre de Alimentos Bobbo Ltda. (77.979.100-9)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49240" y="22860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Neva: 76.914.556-7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1064240" cy="905256"/>
          </a:xfrm>
          <a:prstGeom prst="roundRect">
            <a:avLst>
              <a:gd name="adj" fmla="val 6061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45536"/>
            <a:ext cx="457200" cy="457200"/>
          </a:xfrm>
          <a:prstGeom prst="ellipse">
            <a:avLst/>
          </a:prstGeom>
          <a:solidFill>
            <a:srgbClr val="F8E6E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29992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Dental y Serv. Odontológicos ILAB Ltda.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32841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2716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49240" y="30175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 a nombre de Dimacofi Negocios Avanzados S.A. (76.570.350-6)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49240" y="33375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distinto al registrado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64240" cy="905256"/>
          </a:xfrm>
          <a:prstGeom prst="roundRect">
            <a:avLst>
              <a:gd name="adj" fmla="val 6061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97096"/>
            <a:ext cx="457200" cy="457200"/>
          </a:xfrm>
          <a:prstGeom prst="ellipse">
            <a:avLst/>
          </a:prstGeom>
          <a:solidFill>
            <a:srgbClr val="F8E6E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050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Sonepar Chile S.A.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3799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Eduardo Frei Montalva 6001-52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49240" y="40690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 a nombre de Electrafk S.A.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49240" y="43891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Sonepar: 96.896.480-1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64240" cy="905256"/>
          </a:xfrm>
          <a:prstGeom prst="roundRect">
            <a:avLst>
              <a:gd name="adj" fmla="val 6061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248656"/>
            <a:ext cx="457200" cy="457200"/>
          </a:xfrm>
          <a:prstGeom prst="ellipse">
            <a:avLst/>
          </a:prstGeom>
          <a:solidFill>
            <a:srgbClr val="F8E6E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48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17320" y="5102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Sonepar Chile S.A.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54315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Eduardo Frei Montalva 6001-56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49240" y="51206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 a nombre de Electrafk S.A.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49240" y="54406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Sonepar: 96.896.480-1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Aguas Andinas  |  Centro Empresas El Cortijo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· PLANILLA DE FACTURACIÓN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Boletas a nombre de Patagónica Inmobiliaria SpA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facturadas que NO existen en la Planilla de Facturación vigente.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557784"/>
          </a:xfrm>
          <a:prstGeom prst="roundRect">
            <a:avLst>
              <a:gd name="adj" fmla="val 9836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6949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2250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557784"/>
          </a:xfrm>
          <a:prstGeom prst="roundRect">
            <a:avLst>
              <a:gd name="adj" fmla="val 9836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06040"/>
            <a:ext cx="6949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2292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557784"/>
          </a:xfrm>
          <a:prstGeom prst="roundRect">
            <a:avLst>
              <a:gd name="adj" fmla="val 9836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6949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2294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64240" cy="557784"/>
          </a:xfrm>
          <a:prstGeom prst="roundRect">
            <a:avLst>
              <a:gd name="adj" fmla="val 9836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77640"/>
            <a:ext cx="6949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2306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557784"/>
          </a:xfrm>
          <a:prstGeom prst="roundRect">
            <a:avLst>
              <a:gd name="adj" fmla="val 9836"/>
            </a:avLst>
          </a:prstGeom>
          <a:solidFill>
            <a:srgbClr val="FCEFD6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63440"/>
            <a:ext cx="69494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6061 – MAP 40MM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4663440"/>
            <a:ext cx="19202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highlight>
                  <a:srgbClr val="FF00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DEUDA $74.820</a:t>
            </a:r>
            <a:endParaRPr lang="en-US" sz="1500" dirty="0">
              <a:highlight>
                <a:srgbClr val="FF000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registro “6061 – MAP 40MM” corresponde a un medidor que no figuraba previamente en el detalle de esta categoría; su deuda ($74.820) es la segunda más alta de toda la auditoría.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Aguas Andinas  |  Centro Empresas El Cortijo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· FACTURACIÓN POR TERCEROS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Boletas de clientes a nombre de Patagónica Inmobiliaria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 sí registradas en la Planilla, pero cuya boleta de Aguas Andinas llega a nombre del arrendador y no del cliente.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40864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BICE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América Vespucio 2760-C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9572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del Estado de Chile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2680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6265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Evox Home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6061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958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Corsud SpA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7856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6001-81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608576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96512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Distribuidora Sanchez 4G SpA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5254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6001-33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6344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Gallyas Telecom S.A.  ·  deuda $1.038.530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91947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6001-32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742432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23036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Drop SpA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6001-72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2340864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8288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Wasser SpA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20848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2344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2907792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39572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y Comercio Baxter de Chile Ltda.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63640" y="26517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2568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3474720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96265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y Comercio Baxter de Chile Ltda. *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63640" y="321868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2672 (Edif. 5-A)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041648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52958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Hermanos SpA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63640" y="378561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2760-D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4608576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096512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Hermanos SpA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63640" y="435254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2760-E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5175504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466344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Hermanos SpA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63640" y="491947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6001-31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5742432"/>
            <a:ext cx="5349240" cy="0"/>
          </a:xfrm>
          <a:prstGeom prst="line">
            <a:avLst/>
          </a:prstGeom>
          <a:noFill/>
          <a:ln w="9525">
            <a:solidFill>
              <a:srgbClr val="D8E3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523036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Soc. Com. e Ind. Hydrotorc Limitada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63640" y="5486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2760-G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Dirección confirmada mediante escritura de subarrendamiento (Rep. 774-12, Notaría Bertolino).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Aguas Andinas  |  Centro Empresas El Cortijo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· BOLETAS SIN TITULAR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Boletas a nombre de “Sr. Residente”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Olympus Corporation Chile SpA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6001-65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830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Distribuidora Sánchez 4G SpA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2542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402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y Comercial Baxter de Chile Ltda.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2240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6001-57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974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Olympus Corporation Chile SpA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697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6001-71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FCEFD6"/>
          </a:solidFill>
          <a:ln w="13970">
            <a:solidFill>
              <a:srgbClr val="D98E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64408"/>
            <a:ext cx="256032" cy="256032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182112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Medidor Avda. Pdte. E. Frei Montalva 6061 – MAP 40MM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1821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verificación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46920" y="32461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21" name="Text 19"/>
          <p:cNvSpPr/>
          <p:nvPr/>
        </p:nvSpPr>
        <p:spPr>
          <a:xfrm>
            <a:off x="9646920" y="32461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913632"/>
            <a:ext cx="1106424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41648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BOLETAS PATAGÓNICA · DIRECCIÓN NO REGISTRADA EN PLANILLA, CON DEUDA VIGENTE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B3B54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49884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Patagónica Inmobiliaria S.A.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2232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49040" y="4663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$58.090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217920" y="440740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0B3B54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49884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Patagónica Inmobiliaria S.A.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475488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2242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418320" y="4663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$90.150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48640" y="531266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B3B54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312664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Patagónica Inmobiliaria S.A.  ·  Avda. Presidente Eduardo Frei Montalva 6061 – MAP 40MM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0" y="531266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$74.820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Aguas Andinas  |  Centro Empresas El Cortijo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· LOCALES VACANTES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Ubicaciones vacantes en Planilla con boleta emitida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 sin ocupante registrado que, sin embargo, continúan generando boletas y deuda de Aguas Andinas.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019301"/>
              </p:ext>
            </p:extLst>
          </p:nvPr>
        </p:nvGraphicFramePr>
        <p:xfrm>
          <a:off x="548640" y="1828800"/>
          <a:ext cx="11064240" cy="4005072"/>
        </p:xfrm>
        <a:graphic>
          <a:graphicData uri="http://schemas.openxmlformats.org/drawingml/2006/table">
            <a:tbl>
              <a:tblPr/>
              <a:tblGrid>
                <a:gridCol w="4386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8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Boleta a nombre 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2758-A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Internacional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2692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Patagónica Inmobiliaria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2724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Patagónica Inmobiliaria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2758-B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Patagónica Inmobiliaria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$71.830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2760-B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Patagónica Inmobiliaria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$90.530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2760-F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Patagónica Inmobiliaria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2760-H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Patagónica Inmobiliaria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$14.780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Pdte. E. Frei Montalva 6001-61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Perfomex Chile 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5C7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2758-C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Sánchez y Sánchez Chile Limitada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2512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Residente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Avda. Américo Vespucio 2802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 Residente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59893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D98E04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5989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deuda: $271.394</a:t>
            </a:r>
            <a:endParaRPr lang="en-US" sz="1400" dirty="0"/>
          </a:p>
        </p:txBody>
      </p:sp>
      <p:sp>
        <p:nvSpPr>
          <p:cNvPr id="5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Aguas Andinas  |  Centro Empresas El Cortijo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· LOCALES VACANTES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" y="633625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Ubicaciones vacantes sin boleta ni número de cuenta 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 vacantes que no registran boleta ni número de cliente en Aguas Andinas — sin trazabilidad de cuenta.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9339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82880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2742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8775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42316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2758-E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18211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01752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2758-F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77647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61188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2758-G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37083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420624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6001-85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96519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80060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6001-85 AA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4808" y="199339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25" name="Text 23"/>
          <p:cNvSpPr/>
          <p:nvPr/>
        </p:nvSpPr>
        <p:spPr>
          <a:xfrm>
            <a:off x="6739128" y="182880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6001-85 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242316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258775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28" name="Text 26"/>
          <p:cNvSpPr/>
          <p:nvPr/>
        </p:nvSpPr>
        <p:spPr>
          <a:xfrm>
            <a:off x="6739128" y="242316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6115-D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301752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318211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31" name="Text 29"/>
          <p:cNvSpPr/>
          <p:nvPr/>
        </p:nvSpPr>
        <p:spPr>
          <a:xfrm>
            <a:off x="6739128" y="301752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6115-E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63640" y="361188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377647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34" name="Text 32"/>
          <p:cNvSpPr/>
          <p:nvPr/>
        </p:nvSpPr>
        <p:spPr>
          <a:xfrm>
            <a:off x="6739128" y="361188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6115-F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206240"/>
            <a:ext cx="5349240" cy="466344"/>
          </a:xfrm>
          <a:prstGeom prst="roundRect">
            <a:avLst>
              <a:gd name="adj" fmla="val 11765"/>
            </a:avLst>
          </a:prstGeom>
          <a:solidFill>
            <a:srgbClr val="F2F7F9"/>
          </a:solidFill>
          <a:ln w="9525">
            <a:solidFill>
              <a:srgbClr val="D8E3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64808" y="4370832"/>
            <a:ext cx="137160" cy="13716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37" name="Text 35"/>
          <p:cNvSpPr/>
          <p:nvPr/>
        </p:nvSpPr>
        <p:spPr>
          <a:xfrm>
            <a:off x="6739128" y="4206240"/>
            <a:ext cx="4754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6115-G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B3B54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623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2103120" y="56052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ubicaciones vacantes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total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0" y="5660136"/>
            <a:ext cx="0" cy="438912"/>
          </a:xfrm>
          <a:prstGeom prst="line">
            <a:avLst/>
          </a:prstGeom>
          <a:noFill/>
          <a:ln w="12700">
            <a:solidFill>
              <a:srgbClr val="1F5B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56418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 boleta emitida  ·  $271.394 en deuda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17720" y="5897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sin boleta ni ID  ·  sin trazabilidad de cuenta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Aguas Andinas  |  Centro Empresas El Cortijo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· COBERTURA DE CUENTAS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Ubicaciones con clientes sin boleta emitida ni ID cuenta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pisos del edificio corporativo Avda. Américo Vespucio 2680 (cuenta administrada de forma centralizada).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71700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 Spa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6001-77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485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Adecco Servicios Empresariales S.A.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48640" y="242773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6115-H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48640" y="3003804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6090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Chile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2858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769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Crédito e Inversiones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548640" y="32598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2982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48640" y="3835908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9300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Itaú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48640" y="36758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2828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0906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Ferron Chile S.A.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48640" y="409194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dirección registrada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48640" y="4668012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2511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Juana Cataldo e Hijos SpA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548640" y="450799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6001-83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548640" y="5084064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4116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Sna-e (Chile) Limitada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48640" y="492404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6001-66 A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48640" y="5500116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15721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Congo Films S.A. Agencia en Chile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48640" y="534009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548640" y="5916168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57326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Congo Films S.A. Agencia en Chile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48640" y="575614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6001-84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279392" y="2171700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79392" y="182880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Congo Films S.A. Agencia en Chile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4279392" y="201168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6001-85 A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4279392" y="2587752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224485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DKo Home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4279392" y="242773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6001-34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4279392" y="3003804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9392" y="266090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DKo Home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4279392" y="284378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6239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4279392" y="3419856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9392" y="30769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GTD Manquehue S.A.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4279392" y="32598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Ductos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4279392" y="3835908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9392" y="349300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S.A.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4279392" y="36758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2758-H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4279392" y="4251960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9392" y="390906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Santa Cruz Servicios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4279392" y="409194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 de autos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4279392" y="4668012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432511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Patricio Rodrigo Olmedo Núñez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4279392" y="450799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4279392" y="5084064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9392" y="474116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Pullman Cargo S.A.</a:t>
            </a:r>
            <a:endParaRPr lang="en-US" sz="930" dirty="0"/>
          </a:p>
        </p:txBody>
      </p:sp>
      <p:sp>
        <p:nvSpPr>
          <p:cNvPr id="58" name="Text 56"/>
          <p:cNvSpPr/>
          <p:nvPr/>
        </p:nvSpPr>
        <p:spPr>
          <a:xfrm>
            <a:off x="4279392" y="492404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6001-82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4279392" y="5500116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79392" y="515721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Rocketman SpA</a:t>
            </a:r>
            <a:endParaRPr lang="en-US" sz="930" dirty="0"/>
          </a:p>
        </p:txBody>
      </p:sp>
      <p:sp>
        <p:nvSpPr>
          <p:cNvPr id="61" name="Text 59"/>
          <p:cNvSpPr/>
          <p:nvPr/>
        </p:nvSpPr>
        <p:spPr>
          <a:xfrm>
            <a:off x="4279392" y="534009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Tótem, Centro Empresas El Cortijo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4279392" y="5916168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79392" y="557326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Hermanos SpA</a:t>
            </a:r>
            <a:endParaRPr lang="en-US" sz="930" dirty="0"/>
          </a:p>
        </p:txBody>
      </p:sp>
      <p:sp>
        <p:nvSpPr>
          <p:cNvPr id="64" name="Text 62"/>
          <p:cNvSpPr/>
          <p:nvPr/>
        </p:nvSpPr>
        <p:spPr>
          <a:xfrm>
            <a:off x="4279392" y="575614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2716-A</a:t>
            </a:r>
            <a:endParaRPr lang="en-US" sz="830" dirty="0"/>
          </a:p>
        </p:txBody>
      </p:sp>
      <p:sp>
        <p:nvSpPr>
          <p:cNvPr id="65" name="Shape 63"/>
          <p:cNvSpPr/>
          <p:nvPr/>
        </p:nvSpPr>
        <p:spPr>
          <a:xfrm>
            <a:off x="8010144" y="2171700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10144" y="182880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Hermanos SpA</a:t>
            </a:r>
            <a:endParaRPr lang="en-US" sz="930" dirty="0"/>
          </a:p>
        </p:txBody>
      </p:sp>
      <p:sp>
        <p:nvSpPr>
          <p:cNvPr id="67" name="Text 65"/>
          <p:cNvSpPr/>
          <p:nvPr/>
        </p:nvSpPr>
        <p:spPr>
          <a:xfrm>
            <a:off x="8010144" y="201168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2760-E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8010144" y="2587752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10144" y="224485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Hermanos SpA</a:t>
            </a:r>
            <a:endParaRPr lang="en-US" sz="930" dirty="0"/>
          </a:p>
        </p:txBody>
      </p:sp>
      <p:sp>
        <p:nvSpPr>
          <p:cNvPr id="70" name="Text 68"/>
          <p:cNvSpPr/>
          <p:nvPr/>
        </p:nvSpPr>
        <p:spPr>
          <a:xfrm>
            <a:off x="8010144" y="242773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6001-46</a:t>
            </a:r>
            <a:endParaRPr lang="en-US" sz="830" dirty="0"/>
          </a:p>
        </p:txBody>
      </p:sp>
      <p:sp>
        <p:nvSpPr>
          <p:cNvPr id="71" name="Shape 69"/>
          <p:cNvSpPr/>
          <p:nvPr/>
        </p:nvSpPr>
        <p:spPr>
          <a:xfrm>
            <a:off x="8010144" y="3003804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10144" y="266090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Hermanos SpA</a:t>
            </a:r>
            <a:endParaRPr lang="en-US" sz="930" dirty="0"/>
          </a:p>
        </p:txBody>
      </p:sp>
      <p:sp>
        <p:nvSpPr>
          <p:cNvPr id="73" name="Text 71"/>
          <p:cNvSpPr/>
          <p:nvPr/>
        </p:nvSpPr>
        <p:spPr>
          <a:xfrm>
            <a:off x="8010144" y="284378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6115-B y 6115-C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8010144" y="3419856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10144" y="307695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Soc. Fábrica y Distrib. de Alimentos RENAM Ltda.</a:t>
            </a:r>
            <a:endParaRPr lang="en-US" sz="930" dirty="0"/>
          </a:p>
        </p:txBody>
      </p:sp>
      <p:sp>
        <p:nvSpPr>
          <p:cNvPr id="76" name="Text 74"/>
          <p:cNvSpPr/>
          <p:nvPr/>
        </p:nvSpPr>
        <p:spPr>
          <a:xfrm>
            <a:off x="8010144" y="32598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2730</a:t>
            </a:r>
            <a:endParaRPr lang="en-US" sz="830" dirty="0"/>
          </a:p>
        </p:txBody>
      </p:sp>
      <p:sp>
        <p:nvSpPr>
          <p:cNvPr id="77" name="Shape 75"/>
          <p:cNvSpPr/>
          <p:nvPr/>
        </p:nvSpPr>
        <p:spPr>
          <a:xfrm>
            <a:off x="8010144" y="3835908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10144" y="349300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 de Alimentos Leefood SpA</a:t>
            </a:r>
            <a:endParaRPr lang="en-US" sz="930" dirty="0"/>
          </a:p>
        </p:txBody>
      </p:sp>
      <p:sp>
        <p:nvSpPr>
          <p:cNvPr id="79" name="Text 77"/>
          <p:cNvSpPr/>
          <p:nvPr/>
        </p:nvSpPr>
        <p:spPr>
          <a:xfrm>
            <a:off x="8010144" y="36758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6001-43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8010144" y="4251960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10144" y="390906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Torres Unidas Chile SpA</a:t>
            </a:r>
            <a:endParaRPr lang="en-US" sz="930" dirty="0"/>
          </a:p>
        </p:txBody>
      </p:sp>
      <p:sp>
        <p:nvSpPr>
          <p:cNvPr id="82" name="Text 80"/>
          <p:cNvSpPr/>
          <p:nvPr/>
        </p:nvSpPr>
        <p:spPr>
          <a:xfrm>
            <a:off x="8010144" y="409194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Rapel *</a:t>
            </a:r>
            <a:endParaRPr lang="en-US" sz="830" dirty="0"/>
          </a:p>
        </p:txBody>
      </p:sp>
      <p:sp>
        <p:nvSpPr>
          <p:cNvPr id="83" name="Shape 81"/>
          <p:cNvSpPr/>
          <p:nvPr/>
        </p:nvSpPr>
        <p:spPr>
          <a:xfrm>
            <a:off x="8010144" y="4668012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010144" y="432511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S.A.</a:t>
            </a:r>
            <a:endParaRPr lang="en-US" sz="930" dirty="0"/>
          </a:p>
        </p:txBody>
      </p:sp>
      <p:sp>
        <p:nvSpPr>
          <p:cNvPr id="85" name="Text 83"/>
          <p:cNvSpPr/>
          <p:nvPr/>
        </p:nvSpPr>
        <p:spPr>
          <a:xfrm>
            <a:off x="8010144" y="450799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Américo Vespucio 2758-D</a:t>
            </a:r>
            <a:endParaRPr lang="en-US" sz="830" dirty="0"/>
          </a:p>
        </p:txBody>
      </p:sp>
      <p:sp>
        <p:nvSpPr>
          <p:cNvPr id="86" name="Shape 84"/>
          <p:cNvSpPr/>
          <p:nvPr/>
        </p:nvSpPr>
        <p:spPr>
          <a:xfrm>
            <a:off x="8010144" y="5084064"/>
            <a:ext cx="3429000" cy="0"/>
          </a:xfrm>
          <a:prstGeom prst="line">
            <a:avLst/>
          </a:prstGeom>
          <a:noFill/>
          <a:ln w="6350">
            <a:solidFill>
              <a:srgbClr val="D8E3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10144" y="474116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B3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Voith Turbo S.A.</a:t>
            </a:r>
            <a:endParaRPr lang="en-US" sz="930" dirty="0"/>
          </a:p>
        </p:txBody>
      </p:sp>
      <p:sp>
        <p:nvSpPr>
          <p:cNvPr id="88" name="Text 86"/>
          <p:cNvSpPr/>
          <p:nvPr/>
        </p:nvSpPr>
        <p:spPr>
          <a:xfrm>
            <a:off x="8010144" y="492404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Avda. Pdte. E. Frei Montalva 6115-A</a:t>
            </a:r>
            <a:endParaRPr lang="en-US" sz="830" dirty="0"/>
          </a:p>
        </p:txBody>
      </p:sp>
      <p:sp>
        <p:nvSpPr>
          <p:cNvPr id="89" name="Text 87"/>
          <p:cNvSpPr/>
          <p:nvPr/>
        </p:nvSpPr>
        <p:spPr>
          <a:xfrm>
            <a:off x="548640" y="6099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Ubicación fuera del complejo Centro Empresas El Cortijo — requiere confirmar alcance con Gerencia.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Aguas Andinas  |  Centro Empresas El Cortijo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724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CUENTAS · ENEL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 Cuentas Enel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Empresas El Cortijo — Catastro de titulares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registradas en 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Enel (julio 2026)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Cruzadas por dirección contra la Planilla de Facturación vigente. Match exacto = dirección completa; match base = N° de calle único.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214884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072433"/>
          </a:solidFill>
          <a:ln w="12700">
            <a:solidFill>
              <a:srgbClr val="135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295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CON PLANILLA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2560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760720" y="313639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match en Planilla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560320"/>
            <a:ext cx="0" cy="1097280"/>
          </a:xfrm>
          <a:prstGeom prst="line">
            <a:avLst/>
          </a:prstGeom>
          <a:noFill/>
          <a:ln w="12700">
            <a:solidFill>
              <a:srgbClr val="1F5B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2560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543800" y="31363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coincidencia detectada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81160" y="214884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072433"/>
          </a:solidFill>
          <a:ln w="12700">
            <a:solidFill>
              <a:srgbClr val="135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2951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8F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0" y="2560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509760" y="313639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exacto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155680" y="2560320"/>
            <a:ext cx="0" cy="1097280"/>
          </a:xfrm>
          <a:prstGeom prst="line">
            <a:avLst/>
          </a:prstGeom>
          <a:noFill/>
          <a:ln w="12700">
            <a:solidFill>
              <a:srgbClr val="1F5B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92840" y="2560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</a:rPr>
              <a:t>15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1292840" y="31363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por N° base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4114800"/>
            <a:ext cx="7452360" cy="1005840"/>
          </a:xfrm>
          <a:prstGeom prst="roundRect">
            <a:avLst>
              <a:gd name="adj" fmla="val 7273"/>
            </a:avLst>
          </a:prstGeom>
          <a:solidFill>
            <a:srgbClr val="D98E04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PENDIENTES EN PLANILLA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646920" y="43159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titular identificado en la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7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de Facturación vigente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exacto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8412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48412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N° base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2816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32816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coincidencia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7220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Comunas cubiertas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1624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01624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Cortijo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860280" y="5440680"/>
            <a:ext cx="173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FD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860280" y="5943600"/>
            <a:ext cx="1734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identificados</a:t>
            </a: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307</TotalTime>
  <Words>1751</Words>
  <Application>Microsoft Office PowerPoint</Application>
  <PresentationFormat>Panorámica</PresentationFormat>
  <Paragraphs>314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Meléndez</cp:lastModifiedBy>
  <cp:revision>10</cp:revision>
  <dcterms:created xsi:type="dcterms:W3CDTF">2026-07-13T19:20:30Z</dcterms:created>
  <dcterms:modified xsi:type="dcterms:W3CDTF">2026-07-21T12:41:12Z</dcterms:modified>
</cp:coreProperties>
</file>